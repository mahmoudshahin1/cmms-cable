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1097280"/>
            <a:ext cx="3108960" cy="347472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CABLE INDUSTRY ENTERPRISE CMMS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1F5F9"/>
                </a:solidFill>
                <a:latin typeface="Segoe UI"/>
              </a:defRPr>
            </a:pPr>
            <a:r>
              <a:t>Cable Ops CMMS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Unified Shop-Floor Operations, Downtime Handshake &amp; Predictive Maintenance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3328416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73152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17720"/>
            <a:ext cx="28254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PRODUCTION RELEASE</a:t>
            </a:r>
          </a:p>
          <a:p>
            <a:pPr>
              <a:spcBef>
                <a:spcPts val="6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Release v1.0 • Ready for Shop Floor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4389120"/>
            <a:ext cx="3328416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2856" y="4572000"/>
            <a:ext cx="73152" cy="10972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4617720"/>
            <a:ext cx="28254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FACTORY FLEET SCALE</a:t>
            </a:r>
          </a:p>
          <a:p>
            <a:pPr>
              <a:spcBef>
                <a:spcPts val="6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54 Continuous Machines • 7 Departments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4389120"/>
            <a:ext cx="3328416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11312" y="4572000"/>
            <a:ext cx="73152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4617720"/>
            <a:ext cx="28254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SHIFT CHRONOLOGY</a:t>
            </a:r>
          </a:p>
          <a:p>
            <a:pPr>
              <a:spcBef>
                <a:spcPts val="6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3 Continuous Operating Shifts • 24/7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MANUFACTURING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Factory Shop-Floor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Critical operational bottlenecks that degrade overall equipment effectiveness (OEE) and inflate MTTR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3152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Segoe UI"/>
              </a:defRPr>
            </a:pPr>
            <a:r>
              <a:t>1. Reporting Lag &amp; Blind Stoppages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Operators delay notifying maintenance during micro-stoppages and trips. Machines sit idle for 20-45 minutes before a technician is dispatched, creating untracked loss gaps.</a:t>
            </a:r>
          </a:p>
          <a:p>
            <a:pPr>
              <a:spcBef>
                <a:spcPts val="800"/>
              </a:spcBef>
              <a:defRPr sz="950" b="1">
                <a:solidFill>
                  <a:srgbClr val="EF4444"/>
                </a:solidFill>
                <a:latin typeface="Segoe UI"/>
              </a:defRPr>
            </a:pPr>
            <a:r>
              <a:t>IMPACT: HIGH UNPLANNED DOWNTIME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Segoe UI"/>
              </a:defRPr>
            </a:pPr>
            <a:r>
              <a:t>2. The Downtime Blame Game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Production blames Maintenance for machine failure; Maintenance blames Production for operator error or raw material defects. No single source of truth exists.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IMPACT: UNRESOLVED ROOT CAUSES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73152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Segoe UI"/>
              </a:defRPr>
            </a:pPr>
            <a:r>
              <a:t>3. Distorted Shift Metrics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When breakdowns occur near shift handover (e.g. 15:00 to 16:30), downtime attribution becomes distorted. Next shift refuses to inherit previous shift's downtime penalty.</a:t>
            </a:r>
          </a:p>
          <a:p>
            <a:pPr>
              <a:spcBef>
                <a:spcPts val="800"/>
              </a:spcBef>
              <a:defRPr sz="950" b="1">
                <a:solidFill>
                  <a:srgbClr val="3B82F6"/>
                </a:solidFill>
                <a:latin typeface="Segoe UI"/>
              </a:defRPr>
            </a:pPr>
            <a:r>
              <a:t>IMPACT: INACCURATE SHIFT OEE ACCOUNTING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480560"/>
            <a:ext cx="73152" cy="1645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4805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Segoe UI"/>
              </a:defRPr>
            </a:pPr>
            <a:r>
              <a:t>4. Paper Logs &amp; Missing Part Traceability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Stoppage forms and maintenance work orders on paper get lost, damaged by coolant oil, or filled retroactively with fabricated timestamps and unaccounted parts.</a:t>
            </a:r>
          </a:p>
          <a:p>
            <a:pPr>
              <a:spcBef>
                <a:spcPts val="800"/>
              </a:spcBef>
              <a:defRPr sz="950" b="1">
                <a:solidFill>
                  <a:srgbClr val="A855F7"/>
                </a:solidFill>
                <a:latin typeface="Segoe UI"/>
              </a:defRPr>
            </a:pPr>
            <a:r>
              <a:t>IMPACT: NON-AUDIT-READY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The Cable Ops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resilient industrial CMMS architected specifically for continuous cable production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23744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57400"/>
            <a:ext cx="224942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2494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Segoe UI"/>
              </a:defRPr>
            </a:pPr>
            <a:r>
              <a:t>54 Monitored Assets Across 7 Departments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Pre-configured digital asset catalog covering every critical manufacturing stage:</a:t>
            </a:r>
            <a:br/>
            <a:r>
              <a:t>• Rod Breakdown &amp; Medium Wire Drawing</a:t>
            </a:r>
            <a:br/>
            <a:r>
              <a:t>• High-Speed Bunchers &amp; Rigid Stranders</a:t>
            </a:r>
            <a:br/>
            <a:r>
              <a:t>• CCV Continuous Vulcanization Lines</a:t>
            </a:r>
            <a:br/>
            <a:r>
              <a:t>• Sheathing &amp; Insulation Extruders</a:t>
            </a:r>
            <a:br/>
            <a:r>
              <a:t>• Planetary Armouring &amp; Drum Twisters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523744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2057400"/>
            <a:ext cx="22494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2494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Segoe UI"/>
              </a:defRPr>
            </a:pPr>
            <a:r>
              <a:t>Industrial Offline-First Resilience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High-noise metal plants suffer frequent Wi-Fi dead zones.</a:t>
            </a:r>
            <a:br/>
            <a:r>
              <a:t>• Local Hive NoSQL persistent storage</a:t>
            </a:r>
            <a:br/>
            <a:r>
              <a:t>• Instant UI responsiveness during dropouts</a:t>
            </a:r>
            <a:br/>
            <a:r>
              <a:t>• Silent automatic background sync when connection recovers</a:t>
            </a:r>
            <a:br/>
            <a:r>
              <a:t>• Guaranteed zero data loss during plant-wide outages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2523744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057400"/>
            <a:ext cx="22494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22494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Segoe UI"/>
              </a:defRPr>
            </a:pPr>
            <a:r>
              <a:t>Closed-Loop 2-Tier Handshake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Enforces accountability between departments:</a:t>
            </a:r>
            <a:br/>
            <a:r>
              <a:t>• Operators initiate and verify line readiness</a:t>
            </a:r>
            <a:br/>
            <a:r>
              <a:t>• Technicians log root cause &amp; spare parts</a:t>
            </a:r>
            <a:br/>
            <a:r>
              <a:t>• Supervisors retain exclusive triage and closure authority</a:t>
            </a:r>
            <a:br/>
            <a:r>
              <a:t>• Eliminates unauthorized line restarts and undocumented fixes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920240"/>
            <a:ext cx="2523744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2057400"/>
            <a:ext cx="224942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240280"/>
            <a:ext cx="22494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Segoe UI"/>
              </a:defRPr>
            </a:pPr>
            <a:r>
              <a:t>Real-Time Plant Telemetry &amp; OEE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Instant situational awareness for factory leadership:</a:t>
            </a:r>
            <a:br/>
            <a:r>
              <a:t>• Real-time Machine Status (Running, Idle, Under Repair)</a:t>
            </a:r>
            <a:br/>
            <a:r>
              <a:t>• Automated MTTR &amp; MTBF Calculation Engine</a:t>
            </a:r>
            <a:br/>
            <a:r>
              <a:t>• Pareto Downtime Root-Cause Analysis</a:t>
            </a:r>
            <a:br/>
            <a:r>
              <a:t>• Departmental filtering and multi-shift aggregations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STATE MACHINE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The 5-Step Handshake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Enforcing strict sequential authorization across operations, engineering, and maintenance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993392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0312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Report Stoppage</a:t>
            </a:r>
          </a:p>
          <a:p>
            <a:pPr>
              <a:spcBef>
                <a:spcPts val="800"/>
              </a:spcBef>
              <a:defRPr sz="950" b="1">
                <a:solidFill>
                  <a:srgbClr val="EF4444"/>
                </a:solidFill>
                <a:latin typeface="Segoe UI"/>
              </a:defRPr>
            </a:pPr>
            <a:r>
              <a:t>STATUS: PENDING</a:t>
            </a:r>
          </a:p>
          <a:p>
            <a:pPr>
              <a:spcBef>
                <a:spcPts val="400"/>
              </a:spcBef>
              <a:defRPr sz="950" b="1">
                <a:solidFill>
                  <a:srgbClr val="F1F5F9"/>
                </a:solidFill>
                <a:latin typeface="Segoe UI"/>
              </a:defRPr>
            </a:pPr>
            <a:r>
              <a:t>ACTOR: Line Operator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Operator scans machine QR code or selects asset, picks fault preset, and logs downtime reason.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6" y="1965960"/>
            <a:ext cx="1993392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6664" y="210312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Triage &amp; Assign</a:t>
            </a:r>
          </a:p>
          <a:p>
            <a:pPr>
              <a:spcBef>
                <a:spcPts val="800"/>
              </a:spcBef>
              <a:defRPr sz="950" b="1">
                <a:solidFill>
                  <a:srgbClr val="3B82F6"/>
                </a:solidFill>
                <a:latin typeface="Segoe UI"/>
              </a:defRPr>
            </a:pPr>
            <a:r>
              <a:t>STATUS: ASSIGNED</a:t>
            </a:r>
          </a:p>
          <a:p>
            <a:pPr>
              <a:spcBef>
                <a:spcPts val="400"/>
              </a:spcBef>
              <a:defRPr sz="950" b="1">
                <a:solidFill>
                  <a:srgbClr val="F1F5F9"/>
                </a:solidFill>
                <a:latin typeface="Segoe UI"/>
              </a:defRPr>
            </a:pPr>
            <a:r>
              <a:t>ACTOR: Maint. Supervisor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Supervisor reviews priority (Critical/High), matches technician specialty (Electrical/Mechanical), and dispatches.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965960"/>
            <a:ext cx="1993392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10312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Segoe UI"/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Field Repair</a:t>
            </a:r>
          </a:p>
          <a:p>
            <a:pPr>
              <a:spcBef>
                <a:spcPts val="800"/>
              </a:spcBef>
              <a:defRPr sz="950" b="1">
                <a:solidFill>
                  <a:srgbClr val="A855F7"/>
                </a:solidFill>
                <a:latin typeface="Segoe UI"/>
              </a:defRPr>
            </a:pPr>
            <a:r>
              <a:t>STATUS: IN_PROGRESS</a:t>
            </a:r>
          </a:p>
          <a:p>
            <a:pPr>
              <a:spcBef>
                <a:spcPts val="400"/>
              </a:spcBef>
              <a:defRPr sz="950" b="1">
                <a:solidFill>
                  <a:srgbClr val="F1F5F9"/>
                </a:solidFill>
                <a:latin typeface="Segoe UI"/>
              </a:defRPr>
            </a:pPr>
            <a:r>
              <a:t>ACTOR: Maintenance Tech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Tech taps 'Start Repair' (initiates live stopwatch), conducts fix, consumes spare parts, and inputs root cause.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1965960"/>
            <a:ext cx="1993392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210312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Quality Test Run</a:t>
            </a:r>
          </a:p>
          <a:p>
            <a:pPr>
              <a:spcBef>
                <a:spcPts val="8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STATUS: VERIFIED</a:t>
            </a:r>
          </a:p>
          <a:p>
            <a:pPr>
              <a:spcBef>
                <a:spcPts val="400"/>
              </a:spcBef>
              <a:defRPr sz="950" b="1">
                <a:solidFill>
                  <a:srgbClr val="F1F5F9"/>
                </a:solidFill>
                <a:latin typeface="Segoe UI"/>
              </a:defRPr>
            </a:pPr>
            <a:r>
              <a:t>ACTOR: Line Operator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Operator confirms machine runs in specification (spark test, diameter, speed) and certifies line restoration.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3184" y="1965960"/>
            <a:ext cx="1993392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10312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Approve &amp; Close</a:t>
            </a:r>
          </a:p>
          <a:p>
            <a:pPr>
              <a:spcBef>
                <a:spcPts val="8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STATUS: CLOSED</a:t>
            </a:r>
          </a:p>
          <a:p>
            <a:pPr>
              <a:spcBef>
                <a:spcPts val="400"/>
              </a:spcBef>
              <a:defRPr sz="950" b="1">
                <a:solidFill>
                  <a:srgbClr val="F1F5F9"/>
                </a:solidFill>
                <a:latin typeface="Segoe UI"/>
              </a:defRPr>
            </a:pPr>
            <a:r>
              <a:t>ACTOR: Maint. Supervisor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Supervisor audits complete activity log, validates parts expenditure, and formally seals the work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Role-Based Access Control (RBAC Matrix)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3-tier defense-in-depth permission scopes preventing cross-role tampering and unauthorized sign-offs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659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4114800"/>
                <a:gridCol w="2590495"/>
              </a:tblGrid>
              <a:tr h="7162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OPERATIONAL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SECURITY SCOPE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PERMITTED ACTIONS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RESTRICTIONS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Line Operator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Assigned Department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Scan machine QR, report breakdown, view line work orders, confirm test run (VERIFIED)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Cannot assign technicians, start technical repair, or close tickets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Maintenance Tech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Assigned Work Orders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Start repair (live MTTR timer), log consumed spare parts, input root cause, mark complete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Cannot create work orders, reassign colleagues, or execute final sign-off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Maint. Supervisor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Plant-Wide Maintenance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Triage priority, dispatch specialized techs, approve parts, execute final ticket sign-off (CLOSED)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Cannot bypass operator test-run sign-off or alter historical timestamps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Prod. Supervisor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Production Lines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Log process/material stoppages, monitor line availability, manage shift handover summaries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Cannot assign maintenance techs or close technical engineering work orders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Plant / Exec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Factory-Wide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Executive OEE dashboard, MTTR/MTBF analytics, Pareto loss analysis, PM compliance audits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Read-only operational access; all state-transition action buttons locked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CHRONOLOGY &amp;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Continuous Shift Engine &amp; Immutable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Automated plant-wide temporal attribution and tamper-proof operational logging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3-Shift Continuous Operational Engine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The plant operates 24 hours continuously under three minute-precise shifts:</a:t>
            </a:r>
            <a:br/>
            <a:r>
              <a:t>• Shift 1 (Morning): 07:30 to 15:30 (8.0 Hours)</a:t>
            </a:r>
            <a:br/>
            <a:r>
              <a:t>• Shift 2 (Evening): 15:30 to 23:00 (7.5 Hours)</a:t>
            </a:r>
            <a:br/>
            <a:r>
              <a:t>• Shift 3 (Night):   23:00 to 07:30 (+1 Day) (8.5 Hours)</a:t>
            </a:r>
          </a:p>
          <a:p>
            <a:pPr>
              <a:spcBef>
                <a:spcPts val="14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Cross-Shift Carryover Calculation (حالة استمرار العطل):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When a breakdown begins in Shift 1 (e.g. 14:00) and concludes in Shift 2 (e.g. 17:00):</a:t>
            </a:r>
            <a:br/>
            <a:r>
              <a:t>1. Ticket is automatically flagged as isCrossShift: true.</a:t>
            </a:r>
            <a:br/>
            <a:r>
              <a:t>2. System splits downtime duration cleanly: exactly 90 minutes allocated to Shift 1 and 90 minutes to Shift 2.</a:t>
            </a:r>
            <a:br/>
            <a:r>
              <a:t>3. Eliminates shift handover disputes during OEE accounting.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92024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Immutable Event Audit Trail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Every state transition across the 5-step lifecycle generates an append-only digital event log: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Silent Session Extraction: Captures actor Full Name, Corporate Email, and Role code without manual user entry.</a:t>
            </a:r>
            <a:br/>
            <a:r>
              <a:t>• Automated Dual Timestamps: Machine-accurate UTC for programmatic calculation ($MTTR$) + localized Plant Clock format.</a:t>
            </a:r>
            <a:br/>
            <a:r>
              <a:t>• Granular Action Metadata: Records spare parts deducted, root cause notes, and test-run performance metrics.</a:t>
            </a:r>
            <a:br/>
            <a:r>
              <a:t>• Non-Repudiation: Neither operators nor supervisors can edit or back-date past maintenance records.</a:t>
            </a:r>
          </a:p>
          <a:p>
            <a:pPr>
              <a:spcBef>
                <a:spcPts val="1600"/>
              </a:spcBef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CERTIFIED AUDIT COMPLIANCE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Full historical trace available for ISO 9001 quality audits, machine warranty claims, and Root Cause Failure Analyses (RCFA).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VALUE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Business Impact &amp; Manufacturing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reactive firefighting into predictable, high-yield cable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626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EF4444"/>
                </a:solidFill>
                <a:latin typeface="Segoe UI"/>
              </a:defRPr>
            </a:pPr>
            <a:r>
              <a:t>-35%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Unplanned Stoppage Duration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Instant QR dispatch and live MTTR stopwatches eliminate response latency. Machine turnaround accelerates significantly.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103120"/>
            <a:ext cx="29626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Downtime Attribution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Clear division between Process Stoppages and Technical Failures eliminates friction between Production and Maintenance.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28416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103120"/>
            <a:ext cx="29626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59E0B"/>
                </a:solidFill>
                <a:latin typeface="Segoe UI"/>
              </a:defRPr>
            </a:pPr>
            <a:r>
              <a:t>Zero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Shift Handover Loss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Digital cross-shift tracking and automated pending-order carryover ensure incoming shift supervisors have 100% situational awareness.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EXECUTIVE DEPLOYMENT READINESS</a:t>
            </a:r>
          </a:p>
          <a:p>
            <a:pPr>
              <a:spcBef>
                <a:spcPts val="4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Cable Ops CMMS converts factory floor downtime into transparent, actionable engineering metrics. Ready for immediate deployment across all 54 cable manufacturing 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